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Monthly revenue (thousands)</a:t>
            </a:r>
          </a:p>
        </c:rich>
      </c:tx>
      <c:layout/>
      <c:overlay val="0"/>
    </c:title>
    <c:autoTitleDeleted val="0"/>
    <c:plotArea>
      <c:layout/>
      <c:lineChart>
        <c:varyColors val="0"/>
        <c:ser>
          <c:idx val="0"/>
          <c:order val="0"/>
          <c:tx>
            <c:strRef>
              <c:f>Sheet1!$B$1</c:f>
              <c:strCache>
                <c:ptCount val="1"/>
                <c:pt idx="0">
                  <c:v>Revenue</c:v>
                </c:pt>
              </c:strCache>
            </c:strRef>
          </c:tx>
          <c:spPr>
            <a:solidFill>
              <a:srgbClr val="F58220"/>
            </a:solidFill>
            <a:ln w="38100" cap="flat">
              <a:solidFill>
                <a:srgbClr val="F58220"/>
              </a:solidFill>
              <a:prstDash val="solid"/>
              <a:round/>
            </a:ln>
            <a:effectLst/>
          </c:spPr>
          <c:invertIfNegative val="0"/>
          <c:dLbls>
            <c:numFmt formatCode="#,##0" sourceLinked="0"/>
            <c:txPr>
              <a:bodyPr/>
              <a:lstStyle/>
              <a:p>
                <a:pPr>
                  <a:defRPr b="0" i="0" strike="noStrike" sz="900" u="none">
                    <a:solidFill>
                      <a:srgbClr val="1F2937"/>
                    </a:solidFill>
                    <a:latin typeface="Arial"/>
                  </a:defRPr>
                </a:pPr>
              </a:p>
            </c:txPr>
            <c:showLegendKey val="0"/>
            <c:showVal val="0"/>
            <c:showCatName val="0"/>
            <c:showSerName val="0"/>
            <c:showPercent val="0"/>
            <c:showBubbleSize val="0"/>
            <c:showLeaderLines val="0"/>
          </c:dLbls>
          <c:marker>
            <c:symbol val="circle"/>
            <c:size val="6"/>
            <c:spPr>
              <a:solidFill>
                <a:srgbClr val="F58220"/>
              </a:solidFill>
              <a:ln w="9525" cap="flat">
                <a:solidFill>
                  <a:srgbClr val="F58220"/>
                </a:solidFill>
                <a:prstDash val="solid"/>
                <a:round/>
              </a:ln>
              <a:effectLst/>
            </c:spPr>
          </c:marker>
          <c:cat>
            <c:multiLvlStrRef>
              <c:f>Sheet1!$A$2:$A$31</c:f>
              <c:multiLvlStrCache>
                <c:ptCount val="30"/>
                <c:lvl>
                  <c:pt idx="0">
                    <c:v>Jan 24</c:v>
                  </c:pt>
                  <c:pt idx="1">
                    <c:v>Feb 24</c:v>
                  </c:pt>
                  <c:pt idx="2">
                    <c:v>Mar 24</c:v>
                  </c:pt>
                  <c:pt idx="3">
                    <c:v>Apr 24</c:v>
                  </c:pt>
                  <c:pt idx="4">
                    <c:v>May 24</c:v>
                  </c:pt>
                  <c:pt idx="5">
                    <c:v>Jun 24</c:v>
                  </c:pt>
                  <c:pt idx="6">
                    <c:v>Jul 24</c:v>
                  </c:pt>
                  <c:pt idx="7">
                    <c:v>Aug 24</c:v>
                  </c:pt>
                  <c:pt idx="8">
                    <c:v>Sep 24</c:v>
                  </c:pt>
                  <c:pt idx="9">
                    <c:v>Oct 24</c:v>
                  </c:pt>
                  <c:pt idx="10">
                    <c:v>Nov 24</c:v>
                  </c:pt>
                  <c:pt idx="11">
                    <c:v>Dec 24</c:v>
                  </c:pt>
                  <c:pt idx="12">
                    <c:v>Jan 25</c:v>
                  </c:pt>
                  <c:pt idx="13">
                    <c:v>Feb 25</c:v>
                  </c:pt>
                  <c:pt idx="14">
                    <c:v>Mar 25</c:v>
                  </c:pt>
                  <c:pt idx="15">
                    <c:v>Apr 25</c:v>
                  </c:pt>
                  <c:pt idx="16">
                    <c:v>May 25</c:v>
                  </c:pt>
                  <c:pt idx="17">
                    <c:v>Jun 25</c:v>
                  </c:pt>
                  <c:pt idx="18">
                    <c:v>Jul 25</c:v>
                  </c:pt>
                  <c:pt idx="19">
                    <c:v>Aug 25</c:v>
                  </c:pt>
                  <c:pt idx="20">
                    <c:v>Sep 25</c:v>
                  </c:pt>
                  <c:pt idx="21">
                    <c:v>Oct 25</c:v>
                  </c:pt>
                  <c:pt idx="22">
                    <c:v>Nov 25</c:v>
                  </c:pt>
                  <c:pt idx="23">
                    <c:v>Dec 25</c:v>
                  </c:pt>
                  <c:pt idx="24">
                    <c:v>Jan 26</c:v>
                  </c:pt>
                  <c:pt idx="25">
                    <c:v>Feb 26</c:v>
                  </c:pt>
                  <c:pt idx="26">
                    <c:v>Mar 26</c:v>
                  </c:pt>
                  <c:pt idx="27">
                    <c:v>Apr 26</c:v>
                  </c:pt>
                  <c:pt idx="28">
                    <c:v>May 26</c:v>
                  </c:pt>
                  <c:pt idx="29">
                    <c:v>Jun 26</c:v>
                  </c:pt>
                </c:lvl>
              </c:multiLvlStrCache>
            </c:multiLvlStrRef>
          </c:cat>
          <c:val>
            <c:numRef>
              <c:f>Sheet1!$B$2:$B$31</c:f>
              <c:numCache>
                <c:formatCode>General</c:formatCode>
                <c:ptCount val="30"/>
                <c:pt idx="0">
                  <c:v>105.8</c:v>
                </c:pt>
                <c:pt idx="1">
                  <c:v>97.1</c:v>
                </c:pt>
                <c:pt idx="2">
                  <c:v>114.1</c:v>
                </c:pt>
                <c:pt idx="3">
                  <c:v>102.2</c:v>
                </c:pt>
                <c:pt idx="4">
                  <c:v>107.3</c:v>
                </c:pt>
                <c:pt idx="5">
                  <c:v>100.7</c:v>
                </c:pt>
                <c:pt idx="6">
                  <c:v>113.3</c:v>
                </c:pt>
                <c:pt idx="7">
                  <c:v>108.9</c:v>
                </c:pt>
                <c:pt idx="8">
                  <c:v>100.2</c:v>
                </c:pt>
                <c:pt idx="9">
                  <c:v>102.9</c:v>
                </c:pt>
                <c:pt idx="10">
                  <c:v>104.8</c:v>
                </c:pt>
                <c:pt idx="11">
                  <c:v>106.9</c:v>
                </c:pt>
                <c:pt idx="12">
                  <c:v>102.6</c:v>
                </c:pt>
                <c:pt idx="13">
                  <c:v>95.7</c:v>
                </c:pt>
                <c:pt idx="14">
                  <c:v>103.3</c:v>
                </c:pt>
                <c:pt idx="15">
                  <c:v>101.3</c:v>
                </c:pt>
                <c:pt idx="16">
                  <c:v>112.5</c:v>
                </c:pt>
                <c:pt idx="17">
                  <c:v>110.8</c:v>
                </c:pt>
                <c:pt idx="18">
                  <c:v>104.9</c:v>
                </c:pt>
                <c:pt idx="19">
                  <c:v>105.3</c:v>
                </c:pt>
                <c:pt idx="20">
                  <c:v>102.6</c:v>
                </c:pt>
                <c:pt idx="21">
                  <c:v>106.7</c:v>
                </c:pt>
                <c:pt idx="22">
                  <c:v>114.1</c:v>
                </c:pt>
                <c:pt idx="23">
                  <c:v>100.3</c:v>
                </c:pt>
                <c:pt idx="24">
                  <c:v>107.8</c:v>
                </c:pt>
                <c:pt idx="25">
                  <c:v>64.4</c:v>
                </c:pt>
                <c:pt idx="26">
                  <c:v>71.4</c:v>
                </c:pt>
                <c:pt idx="27">
                  <c:v>75.2</c:v>
                </c:pt>
                <c:pt idx="28">
                  <c:v>75.1</c:v>
                </c:pt>
                <c:pt idx="29">
                  <c:v>70.1</c:v>
                </c:pt>
              </c:numCache>
            </c:numRef>
          </c:val>
          <c:smooth val="0"/>
        </c:ser>
        <c:dLbls>
          <c:numFmt formatCode="#,##0" sourceLinked="0"/>
          <c:txPr>
            <a:bodyPr/>
            <a:lstStyle/>
            <a:p>
              <a:pPr>
                <a:defRPr b="0" i="0" strike="noStrike" sz="900" u="none">
                  <a:solidFill>
                    <a:srgbClr val="1F2937"/>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Month</a:t>
                </a:r>
              </a:p>
            </c:rich>
          </c:tx>
          <c:layout/>
          <c:overlay val="0"/>
        </c:title>
        <c:numFmt formatCode="General" sourceLinked="1"/>
        <c:majorTickMark val="out"/>
        <c:minorTickMark val="none"/>
        <c:tickLblPos val="low"/>
        <c:spPr>
          <a:ln w="12700" cap="flat">
            <a:solidFill>
              <a:srgbClr val="888888"/>
            </a:solidFill>
            <a:prstDash val="solid"/>
            <a:round/>
          </a:ln>
        </c:spPr>
        <c:txPr>
          <a:bodyPr rot="2700000"/>
          <a:lstStyle/>
          <a:p>
            <a:pPr>
              <a:defRPr sz="10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Revenue (thousands)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Top 8 products by revenue (thousands)</a:t>
            </a:r>
          </a:p>
        </c:rich>
      </c:tx>
      <c:layout/>
      <c:overlay val="0"/>
    </c:title>
    <c:autoTitleDeleted val="0"/>
    <c:plotArea>
      <c:layout/>
      <c:barChart>
        <c:barDir val="bar"/>
        <c:grouping val="clustered"/>
        <c:varyColors val="0"/>
        <c:ser>
          <c:idx val="0"/>
          <c:order val="0"/>
          <c:tx>
            <c:strRef>
              <c:f>Sheet1!$B$1</c:f>
              <c:strCache>
                <c:ptCount val="1"/>
                <c:pt idx="0">
                  <c:v>Revenue</c:v>
                </c:pt>
              </c:strCache>
            </c:strRef>
          </c:tx>
          <c:spPr>
            <a:solidFill>
              <a:srgbClr val="F58220"/>
            </a:solidFill>
            <a:effectLst/>
          </c:spPr>
          <c:invertIfNegative val="0"/>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Sheet1!$A$2:$A$9</c:f>
              <c:multiLvlStrCache>
                <c:ptCount val="8"/>
                <c:lvl>
                  <c:pt idx="0">
                    <c:v>Gaming Controller</c:v>
                  </c:pt>
                  <c:pt idx="1">
                    <c:v>Bluetooth Speaker</c:v>
                  </c:pt>
                  <c:pt idx="2">
                    <c:v>Mechanical Keyboard</c:v>
                  </c:pt>
                  <c:pt idx="3">
                    <c:v>Microphone</c:v>
                  </c:pt>
                  <c:pt idx="4">
                    <c:v>Smart Watch</c:v>
                  </c:pt>
                  <c:pt idx="5">
                    <c:v>Tablet</c:v>
                  </c:pt>
                  <c:pt idx="6">
                    <c:v>Office Chair</c:v>
                  </c:pt>
                  <c:pt idx="7">
                    <c:v>Headphones</c:v>
                  </c:pt>
                </c:lvl>
              </c:multiLvlStrCache>
            </c:multiLvlStrRef>
          </c:cat>
          <c:val>
            <c:numRef>
              <c:f>Sheet1!$B$2:$B$9</c:f>
              <c:numCache>
                <c:formatCode>General</c:formatCode>
                <c:ptCount val="8"/>
                <c:pt idx="0">
                  <c:v>173</c:v>
                </c:pt>
                <c:pt idx="1">
                  <c:v>184</c:v>
                </c:pt>
                <c:pt idx="2">
                  <c:v>195</c:v>
                </c:pt>
                <c:pt idx="3">
                  <c:v>203</c:v>
                </c:pt>
                <c:pt idx="4">
                  <c:v>224</c:v>
                </c:pt>
                <c:pt idx="5">
                  <c:v>244</c:v>
                </c:pt>
                <c:pt idx="6">
                  <c:v>288</c:v>
                </c:pt>
                <c:pt idx="7">
                  <c:v>292</c:v>
                </c:pt>
              </c:numCache>
            </c:numRef>
          </c:val>
        </c:ser>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title>
          <c:tx>
            <c:rich>
              <a:bodyPr/>
              <a:lstStyle/>
              <a:p>
                <a:pPr>
                  <a:defRPr sz="1000" b="0" i="0" u="none" strike="noStrike">
                    <a:solidFill>
                      <a:srgbClr val="000000"/>
                    </a:solidFill>
                    <a:latin typeface="Arial"/>
                  </a:defRPr>
                </a:pPr>
                <a:r>
                  <a:rPr sz="1000" b="0" i="0" u="none" strike="noStrike">
                    <a:solidFill>
                      <a:srgbClr val="000000"/>
                    </a:solidFill>
                    <a:latin typeface="Arial"/>
                  </a:rPr>
                  <a:t>Product</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7EB"/>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Revenue (thousands)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Top 8 products by units sold</a:t>
            </a:r>
          </a:p>
        </c:rich>
      </c:tx>
      <c:layout/>
      <c:overlay val="0"/>
    </c:title>
    <c:autoTitleDeleted val="0"/>
    <c:plotArea>
      <c:layout/>
      <c:barChart>
        <c:barDir val="bar"/>
        <c:grouping val="clustered"/>
        <c:varyColors val="0"/>
        <c:ser>
          <c:idx val="0"/>
          <c:order val="0"/>
          <c:tx>
            <c:strRef>
              <c:f>Sheet1!$B$1</c:f>
              <c:strCache>
                <c:ptCount val="1"/>
                <c:pt idx="0">
                  <c:v>Units</c:v>
                </c:pt>
              </c:strCache>
            </c:strRef>
          </c:tx>
          <c:spPr>
            <a:solidFill>
              <a:srgbClr val="0B1F3A"/>
            </a:solidFill>
            <a:effectLst/>
          </c:spPr>
          <c:invertIfNegative val="0"/>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Sheet1!$A$2:$A$9</c:f>
              <c:multiLvlStrCache>
                <c:ptCount val="8"/>
                <c:lvl>
                  <c:pt idx="0">
                    <c:v>Backpack</c:v>
                  </c:pt>
                  <c:pt idx="1">
                    <c:v>Headphones</c:v>
                  </c:pt>
                  <c:pt idx="2">
                    <c:v>Power Bank</c:v>
                  </c:pt>
                  <c:pt idx="3">
                    <c:v>Wireless Mouse</c:v>
                  </c:pt>
                  <c:pt idx="4">
                    <c:v>HDMI Cable</c:v>
                  </c:pt>
                  <c:pt idx="5">
                    <c:v>USB-C Cable</c:v>
                  </c:pt>
                  <c:pt idx="6">
                    <c:v>Phone Case</c:v>
                  </c:pt>
                  <c:pt idx="7">
                    <c:v>Notebook</c:v>
                  </c:pt>
                </c:lvl>
              </c:multiLvlStrCache>
            </c:multiLvlStrRef>
          </c:cat>
          <c:val>
            <c:numRef>
              <c:f>Sheet1!$B$2:$B$9</c:f>
              <c:numCache>
                <c:formatCode>General</c:formatCode>
                <c:ptCount val="8"/>
                <c:pt idx="0">
                  <c:v>3844</c:v>
                </c:pt>
                <c:pt idx="1">
                  <c:v>4202</c:v>
                </c:pt>
                <c:pt idx="2">
                  <c:v>4790</c:v>
                </c:pt>
                <c:pt idx="3">
                  <c:v>5248</c:v>
                </c:pt>
                <c:pt idx="4">
                  <c:v>6458</c:v>
                </c:pt>
                <c:pt idx="5">
                  <c:v>7741</c:v>
                </c:pt>
                <c:pt idx="6">
                  <c:v>8241</c:v>
                </c:pt>
                <c:pt idx="7">
                  <c:v>8856</c:v>
                </c:pt>
              </c:numCache>
            </c:numRef>
          </c:val>
        </c:ser>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title>
          <c:tx>
            <c:rich>
              <a:bodyPr/>
              <a:lstStyle/>
              <a:p>
                <a:pPr>
                  <a:defRPr sz="1000" b="0" i="0" u="none" strike="noStrike">
                    <a:solidFill>
                      <a:srgbClr val="000000"/>
                    </a:solidFill>
                    <a:latin typeface="Arial"/>
                  </a:defRPr>
                </a:pPr>
                <a:r>
                  <a:rPr sz="1000" b="0" i="0" u="none" strike="noStrike">
                    <a:solidFill>
                      <a:srgbClr val="000000"/>
                    </a:solidFill>
                    <a:latin typeface="Arial"/>
                  </a:rPr>
                  <a:t>Product</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7EB"/>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Units sold</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Revenue by city (thousands)</a:t>
            </a:r>
          </a:p>
        </c:rich>
      </c:tx>
      <c:layout/>
      <c:overlay val="0"/>
    </c:title>
    <c:autoTitleDeleted val="0"/>
    <c:plotArea>
      <c:layout/>
      <c:barChart>
        <c:barDir val="bar"/>
        <c:grouping val="clustered"/>
        <c:varyColors val="0"/>
        <c:ser>
          <c:idx val="0"/>
          <c:order val="0"/>
          <c:tx>
            <c:strRef>
              <c:f>Sheet1!$B$1</c:f>
              <c:strCache>
                <c:ptCount val="1"/>
                <c:pt idx="0">
                  <c:v>Revenue</c:v>
                </c:pt>
              </c:strCache>
            </c:strRef>
          </c:tx>
          <c:spPr>
            <a:solidFill>
              <a:srgbClr val="F58220"/>
            </a:solidFill>
            <a:effectLst/>
          </c:spPr>
          <c:invertIfNegative val="0"/>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Sheet1!$A$2:$A$12</c:f>
              <c:multiLvlStrCache>
                <c:ptCount val="11"/>
                <c:lvl>
                  <c:pt idx="0">
                    <c:v>Unknown</c:v>
                  </c:pt>
                  <c:pt idx="1">
                    <c:v>Qom</c:v>
                  </c:pt>
                  <c:pt idx="2">
                    <c:v>Kerman</c:v>
                  </c:pt>
                  <c:pt idx="3">
                    <c:v>Rasht</c:v>
                  </c:pt>
                  <c:pt idx="4">
                    <c:v>Ahvaz</c:v>
                  </c:pt>
                  <c:pt idx="5">
                    <c:v>Tabriz</c:v>
                  </c:pt>
                  <c:pt idx="6">
                    <c:v>Shiraz</c:v>
                  </c:pt>
                  <c:pt idx="7">
                    <c:v>Isfahan</c:v>
                  </c:pt>
                  <c:pt idx="8">
                    <c:v>Karaj</c:v>
                  </c:pt>
                  <c:pt idx="9">
                    <c:v>Mashhad</c:v>
                  </c:pt>
                  <c:pt idx="10">
                    <c:v>Tehran</c:v>
                  </c:pt>
                </c:lvl>
              </c:multiLvlStrCache>
            </c:multiLvlStrRef>
          </c:cat>
          <c:val>
            <c:numRef>
              <c:f>Sheet1!$B$2:$B$12</c:f>
              <c:numCache>
                <c:formatCode>General</c:formatCode>
                <c:ptCount val="11"/>
                <c:pt idx="0">
                  <c:v>40</c:v>
                </c:pt>
                <c:pt idx="1">
                  <c:v>141</c:v>
                </c:pt>
                <c:pt idx="2">
                  <c:v>148</c:v>
                </c:pt>
                <c:pt idx="3">
                  <c:v>171</c:v>
                </c:pt>
                <c:pt idx="4">
                  <c:v>178</c:v>
                </c:pt>
                <c:pt idx="5">
                  <c:v>253</c:v>
                </c:pt>
                <c:pt idx="6">
                  <c:v>272</c:v>
                </c:pt>
                <c:pt idx="7">
                  <c:v>288</c:v>
                </c:pt>
                <c:pt idx="8">
                  <c:v>298</c:v>
                </c:pt>
                <c:pt idx="9">
                  <c:v>377</c:v>
                </c:pt>
                <c:pt idx="10">
                  <c:v>823</c:v>
                </c:pt>
              </c:numCache>
            </c:numRef>
          </c:val>
        </c:ser>
        <c:dLbls>
          <c:numFmt formatCode="#,##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title>
          <c:tx>
            <c:rich>
              <a:bodyPr/>
              <a:lstStyle/>
              <a:p>
                <a:pPr>
                  <a:defRPr sz="1000" b="0" i="0" u="none" strike="noStrike">
                    <a:solidFill>
                      <a:srgbClr val="000000"/>
                    </a:solidFill>
                    <a:latin typeface="Arial"/>
                  </a:defRPr>
                </a:pPr>
                <a:r>
                  <a:rPr sz="1000" b="0" i="0" u="none" strike="noStrike">
                    <a:solidFill>
                      <a:srgbClr val="000000"/>
                    </a:solidFill>
                    <a:latin typeface="Arial"/>
                  </a:rPr>
                  <a:t>City</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2"/>
        <c:crosses val="autoZero"/>
        <c:auto val="1"/>
        <c:lblAlgn val="ctr"/>
        <c:noMultiLvlLbl val="1"/>
        <c:tickLblSkip val="1"/>
      </c:catAx>
      <c:valAx>
        <c:axId val="2094734552"/>
        <c:scaling>
          <c:orientation val="minMax"/>
        </c:scaling>
        <c:delete val="0"/>
        <c:axPos val="b"/>
        <c:majorGridlines>
          <c:spPr>
            <a:ln w="6350" cap="flat">
              <a:solidFill>
                <a:srgbClr val="E5E7EB"/>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Revenue (thousands)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Average order value by discount</a:t>
            </a:r>
          </a:p>
        </c:rich>
      </c:tx>
      <c:layout/>
      <c:overlay val="0"/>
    </c:title>
    <c:autoTitleDeleted val="0"/>
    <c:plotArea>
      <c:layout/>
      <c:barChart>
        <c:barDir val="col"/>
        <c:grouping val="clustered"/>
        <c:varyColors val="0"/>
        <c:ser>
          <c:idx val="0"/>
          <c:order val="0"/>
          <c:tx>
            <c:strRef>
              <c:f>Sheet1!$B$1</c:f>
              <c:strCache>
                <c:ptCount val="1"/>
                <c:pt idx="0">
                  <c:v>Order value</c:v>
                </c:pt>
              </c:strCache>
            </c:strRef>
          </c:tx>
          <c:spPr>
            <a:solidFill>
              <a:srgbClr val="F58220"/>
            </a:solidFill>
            <a:effectLst/>
          </c:spPr>
          <c:invertIfNegative val="0"/>
          <c:dLbls>
            <c:numFmt formatCode="0.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cat>
            <c:multiLvlStrRef>
              <c:f>Sheet1!$A$2:$A$7</c:f>
              <c:multiLvlStrCache>
                <c:ptCount val="6"/>
                <c:lvl>
                  <c:pt idx="0">
                    <c:v>0%</c:v>
                  </c:pt>
                  <c:pt idx="1">
                    <c:v>5%</c:v>
                  </c:pt>
                  <c:pt idx="2">
                    <c:v>10%</c:v>
                  </c:pt>
                  <c:pt idx="3">
                    <c:v>15%</c:v>
                  </c:pt>
                  <c:pt idx="4">
                    <c:v>20%</c:v>
                  </c:pt>
                  <c:pt idx="5">
                    <c:v>30%</c:v>
                  </c:pt>
                </c:lvl>
              </c:multiLvlStrCache>
            </c:multiLvlStrRef>
          </c:cat>
          <c:val>
            <c:numRef>
              <c:f>Sheet1!$B$2:$B$7</c:f>
              <c:numCache>
                <c:formatCode>General</c:formatCode>
                <c:ptCount val="6"/>
                <c:pt idx="0">
                  <c:v>74.59</c:v>
                </c:pt>
                <c:pt idx="1">
                  <c:v>71.59</c:v>
                </c:pt>
                <c:pt idx="2">
                  <c:v>68.94</c:v>
                </c:pt>
                <c:pt idx="3">
                  <c:v>65</c:v>
                </c:pt>
                <c:pt idx="4">
                  <c:v>61.36</c:v>
                </c:pt>
                <c:pt idx="5">
                  <c:v>56.15</c:v>
                </c:pt>
              </c:numCache>
            </c:numRef>
          </c:val>
        </c:ser>
        <c:dLbls>
          <c:numFmt formatCode="0.0" sourceLinked="0"/>
          <c:txPr>
            <a:bodyPr/>
            <a:lstStyle/>
            <a:p>
              <a:pPr>
                <a:defRPr b="0" i="0" strike="noStrike" sz="9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Discount given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Average order value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How is the shop performing?</a:t>
            </a:r>
            <a:endParaRPr lang="en-US" sz="34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400" dirty="0">
                <a:solidFill>
                  <a:srgbClr val="C9D3E3"/>
                </a:solidFill>
                <a:latin typeface="Calibri" pitchFamily="34" charset="0"/>
                <a:ea typeface="Calibri" pitchFamily="34" charset="-122"/>
                <a:cs typeface="Calibri" pitchFamily="34" charset="-120"/>
              </a:rPr>
              <a:t>January 2024 – June 2026 | Summary for the Head of Operations</a:t>
            </a:r>
            <a:endParaRPr lang="en-US" sz="1400" dirty="0"/>
          </a:p>
        </p:txBody>
      </p:sp>
      <p:sp>
        <p:nvSpPr>
          <p:cNvPr id="4" name="Shape 2"/>
          <p:cNvSpPr/>
          <p:nvPr/>
        </p:nvSpPr>
        <p:spPr>
          <a:xfrm>
            <a:off x="457200" y="1554480"/>
            <a:ext cx="2606040" cy="1051560"/>
          </a:xfrm>
          <a:prstGeom prst="rect">
            <a:avLst/>
          </a:prstGeom>
          <a:solidFill>
            <a:srgbClr val="14305A"/>
          </a:solidFill>
          <a:ln w="12700">
            <a:solidFill>
              <a:srgbClr val="14305A"/>
            </a:solidFill>
            <a:prstDash val="solid"/>
          </a:ln>
        </p:spPr>
      </p:sp>
      <p:sp>
        <p:nvSpPr>
          <p:cNvPr id="5" name="Text 3"/>
          <p:cNvSpPr txBox="1"/>
          <p:nvPr/>
        </p:nvSpPr>
        <p:spPr>
          <a:xfrm>
            <a:off x="457200" y="1600200"/>
            <a:ext cx="2606040" cy="640080"/>
          </a:xfrm>
          <a:prstGeom prst="rect">
            <a:avLst/>
          </a:prstGeom>
          <a:noFill/>
          <a:ln/>
        </p:spPr>
        <p:txBody>
          <a:bodyPr wrap="square" lIns="0" tIns="0" rIns="0" bIns="0" rtlCol="0" anchor="ctr"/>
          <a:lstStyle/>
          <a:p>
            <a:pPr algn="ctr" indent="0" marL="0">
              <a:buNone/>
            </a:pPr>
            <a:r>
              <a:rPr lang="en-US" sz="3200" b="1" dirty="0">
                <a:solidFill>
                  <a:srgbClr val="F58220"/>
                </a:solidFill>
                <a:latin typeface="Cambria" pitchFamily="34" charset="0"/>
                <a:ea typeface="Cambria" pitchFamily="34" charset="-122"/>
                <a:cs typeface="Cambria" pitchFamily="34" charset="-120"/>
              </a:rPr>
              <a:t>2,988,380</a:t>
            </a:r>
            <a:endParaRPr lang="en-US" sz="3200" dirty="0"/>
          </a:p>
        </p:txBody>
      </p:sp>
      <p:sp>
        <p:nvSpPr>
          <p:cNvPr id="6" name="Text 4"/>
          <p:cNvSpPr txBox="1"/>
          <p:nvPr/>
        </p:nvSpPr>
        <p:spPr>
          <a:xfrm>
            <a:off x="457200" y="2194560"/>
            <a:ext cx="260604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Total revenue</a:t>
            </a:r>
            <a:endParaRPr lang="en-US" sz="1300" dirty="0"/>
          </a:p>
        </p:txBody>
      </p:sp>
      <p:sp>
        <p:nvSpPr>
          <p:cNvPr id="7" name="Shape 5"/>
          <p:cNvSpPr/>
          <p:nvPr/>
        </p:nvSpPr>
        <p:spPr>
          <a:xfrm>
            <a:off x="3246120" y="1554480"/>
            <a:ext cx="2606040" cy="1051560"/>
          </a:xfrm>
          <a:prstGeom prst="rect">
            <a:avLst/>
          </a:prstGeom>
          <a:solidFill>
            <a:srgbClr val="14305A"/>
          </a:solidFill>
          <a:ln w="12700">
            <a:solidFill>
              <a:srgbClr val="14305A"/>
            </a:solidFill>
            <a:prstDash val="solid"/>
          </a:ln>
        </p:spPr>
      </p:sp>
      <p:sp>
        <p:nvSpPr>
          <p:cNvPr id="8" name="Text 6"/>
          <p:cNvSpPr txBox="1"/>
          <p:nvPr/>
        </p:nvSpPr>
        <p:spPr>
          <a:xfrm>
            <a:off x="3246120" y="1600200"/>
            <a:ext cx="2606040" cy="640080"/>
          </a:xfrm>
          <a:prstGeom prst="rect">
            <a:avLst/>
          </a:prstGeom>
          <a:noFill/>
          <a:ln/>
        </p:spPr>
        <p:txBody>
          <a:bodyPr wrap="square" lIns="0" tIns="0" rIns="0" bIns="0" rtlCol="0" anchor="ctr"/>
          <a:lstStyle/>
          <a:p>
            <a:pPr algn="ctr" indent="0" marL="0">
              <a:buNone/>
            </a:pPr>
            <a:r>
              <a:rPr lang="en-US" sz="3200" b="1" dirty="0">
                <a:solidFill>
                  <a:srgbClr val="F58220"/>
                </a:solidFill>
                <a:latin typeface="Cambria" pitchFamily="34" charset="0"/>
                <a:ea typeface="Cambria" pitchFamily="34" charset="-122"/>
                <a:cs typeface="Cambria" pitchFamily="34" charset="-120"/>
              </a:rPr>
              <a:t>42,696</a:t>
            </a:r>
            <a:endParaRPr lang="en-US" sz="3200" dirty="0"/>
          </a:p>
        </p:txBody>
      </p:sp>
      <p:sp>
        <p:nvSpPr>
          <p:cNvPr id="9" name="Text 7"/>
          <p:cNvSpPr txBox="1"/>
          <p:nvPr/>
        </p:nvSpPr>
        <p:spPr>
          <a:xfrm>
            <a:off x="3246120" y="2194560"/>
            <a:ext cx="260604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Completed and paid orders</a:t>
            </a:r>
            <a:endParaRPr lang="en-US" sz="1300" dirty="0"/>
          </a:p>
        </p:txBody>
      </p:sp>
      <p:sp>
        <p:nvSpPr>
          <p:cNvPr id="10" name="Shape 8"/>
          <p:cNvSpPr/>
          <p:nvPr/>
        </p:nvSpPr>
        <p:spPr>
          <a:xfrm>
            <a:off x="6035040" y="1554480"/>
            <a:ext cx="2606040" cy="1051560"/>
          </a:xfrm>
          <a:prstGeom prst="rect">
            <a:avLst/>
          </a:prstGeom>
          <a:solidFill>
            <a:srgbClr val="14305A"/>
          </a:solidFill>
          <a:ln w="12700">
            <a:solidFill>
              <a:srgbClr val="14305A"/>
            </a:solidFill>
            <a:prstDash val="solid"/>
          </a:ln>
        </p:spPr>
      </p:sp>
      <p:sp>
        <p:nvSpPr>
          <p:cNvPr id="11" name="Text 9"/>
          <p:cNvSpPr txBox="1"/>
          <p:nvPr/>
        </p:nvSpPr>
        <p:spPr>
          <a:xfrm>
            <a:off x="6035040" y="1600200"/>
            <a:ext cx="2606040" cy="640080"/>
          </a:xfrm>
          <a:prstGeom prst="rect">
            <a:avLst/>
          </a:prstGeom>
          <a:noFill/>
          <a:ln/>
        </p:spPr>
        <p:txBody>
          <a:bodyPr wrap="square" lIns="0" tIns="0" rIns="0" bIns="0" rtlCol="0" anchor="ctr"/>
          <a:lstStyle/>
          <a:p>
            <a:pPr algn="ctr" indent="0" marL="0">
              <a:buNone/>
            </a:pPr>
            <a:r>
              <a:rPr lang="en-US" sz="3200" b="1" dirty="0">
                <a:solidFill>
                  <a:srgbClr val="F58220"/>
                </a:solidFill>
                <a:latin typeface="Cambria" pitchFamily="34" charset="0"/>
                <a:ea typeface="Cambria" pitchFamily="34" charset="-122"/>
                <a:cs typeface="Cambria" pitchFamily="34" charset="-120"/>
              </a:rPr>
              <a:t>69.99</a:t>
            </a:r>
            <a:endParaRPr lang="en-US" sz="3200" dirty="0"/>
          </a:p>
        </p:txBody>
      </p:sp>
      <p:sp>
        <p:nvSpPr>
          <p:cNvPr id="12" name="Text 10"/>
          <p:cNvSpPr txBox="1"/>
          <p:nvPr/>
        </p:nvSpPr>
        <p:spPr>
          <a:xfrm>
            <a:off x="6035040" y="2194560"/>
            <a:ext cx="260604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Average order value</a:t>
            </a:r>
            <a:endParaRPr lang="en-US" sz="1300" dirty="0"/>
          </a:p>
        </p:txBody>
      </p:sp>
      <p:sp>
        <p:nvSpPr>
          <p:cNvPr id="13" name="Text 11"/>
          <p:cNvSpPr txBox="1"/>
          <p:nvPr/>
        </p:nvSpPr>
        <p:spPr>
          <a:xfrm>
            <a:off x="457200" y="2880360"/>
            <a:ext cx="82296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three most important findings</a:t>
            </a:r>
            <a:endParaRPr lang="en-US" sz="1500" dirty="0"/>
          </a:p>
        </p:txBody>
      </p:sp>
      <p:sp>
        <p:nvSpPr>
          <p:cNvPr id="14" name="Text 12"/>
          <p:cNvSpPr txBox="1"/>
          <p:nvPr/>
        </p:nvSpPr>
        <p:spPr>
          <a:xfrm>
            <a:off x="457200" y="324612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Revenue was steady for two years, then fell about 32% from February 2026.</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Electronics earns 51% of revenue. Cheap items sell the most units but earn little.</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Bigger discounts do not make people buy more. They only lower the order value.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indent="0" marL="0">
              <a:buNone/>
            </a:pPr>
            <a:r>
              <a:rPr lang="en-US" sz="2400" b="1" dirty="0">
                <a:solidFill>
                  <a:srgbClr val="0B1F3A"/>
                </a:solidFill>
                <a:latin typeface="Cambria" pitchFamily="34" charset="0"/>
                <a:ea typeface="Cambria" pitchFamily="34" charset="-122"/>
                <a:cs typeface="Cambria" pitchFamily="34" charset="-120"/>
              </a:rPr>
              <a:t>Revenue was flat for two years, then dropped about 32% in February 2026</a:t>
            </a:r>
            <a:endParaRPr lang="en-US" sz="2400" dirty="0"/>
          </a:p>
        </p:txBody>
      </p:sp>
      <p:graphicFrame>
        <p:nvGraphicFramePr>
          <p:cNvPr id="3" name="Chart 0" descr=""/>
          <p:cNvGraphicFramePr/>
          <p:nvPr/>
        </p:nvGraphicFramePr>
        <p:xfrm>
          <a:off x="457200" y="1097280"/>
          <a:ext cx="8229600" cy="26517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457200" y="3886200"/>
            <a:ext cx="8229600" cy="914400"/>
          </a:xfrm>
          <a:prstGeom prst="rect">
            <a:avLst/>
          </a:prstGeom>
          <a:solidFill>
            <a:srgbClr val="F3F5F8"/>
          </a:solidFill>
          <a:ln w="12700">
            <a:solidFill>
              <a:srgbClr val="F3F5F8"/>
            </a:solidFill>
            <a:prstDash val="solid"/>
          </a:ln>
        </p:spPr>
      </p:sp>
      <p:sp>
        <p:nvSpPr>
          <p:cNvPr id="5" name="Text 2"/>
          <p:cNvSpPr txBox="1"/>
          <p:nvPr/>
        </p:nvSpPr>
        <p:spPr>
          <a:xfrm>
            <a:off x="640080" y="3977640"/>
            <a:ext cx="7863840" cy="731520"/>
          </a:xfrm>
          <a:prstGeom prst="rect">
            <a:avLst/>
          </a:prstGeom>
          <a:noFill/>
          <a:ln/>
        </p:spPr>
        <p:txBody>
          <a:bodyPr wrap="square" lIns="0" tIns="0" rIns="0" bIns="0" rtlCol="0" anchor="ctr"/>
          <a:lstStyle/>
          <a:p>
            <a:pPr indent="0" marL="0">
              <a:buNone/>
            </a:pPr>
            <a:r>
              <a:rPr lang="en-US" sz="1300" b="1" dirty="0">
                <a:solidFill>
                  <a:srgbClr val="F58220"/>
                </a:solidFill>
                <a:latin typeface="Calibri" pitchFamily="34" charset="0"/>
                <a:ea typeface="Calibri" pitchFamily="34" charset="-122"/>
                <a:cs typeface="Calibri" pitchFamily="34" charset="-120"/>
              </a:rPr>
              <a:t>So what? </a:t>
            </a:r>
            <a:pPr indent="0" marL="0">
              <a:buNone/>
            </a:pPr>
            <a:r>
              <a:rPr lang="en-US" sz="1300" dirty="0">
                <a:solidFill>
                  <a:srgbClr val="1F2937"/>
                </a:solidFill>
                <a:latin typeface="Calibri" pitchFamily="34" charset="0"/>
                <a:ea typeface="Calibri" pitchFamily="34" charset="-122"/>
                <a:cs typeface="Calibri" pitchFamily="34" charset="-120"/>
              </a:rPr>
              <a:t>Since February 2026 every month is about 32% below the same month of 2025, in every city, segment and category. Order size did not change, so fewer people are ordering, and no new customers have signed up since December 2025. There is no strong seasonal peak; months vary by less than 10%.</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indent="0" marL="0">
              <a:buNone/>
            </a:pPr>
            <a:r>
              <a:rPr lang="en-US" sz="2400" b="1" dirty="0">
                <a:solidFill>
                  <a:srgbClr val="0B1F3A"/>
                </a:solidFill>
                <a:latin typeface="Cambria" pitchFamily="34" charset="0"/>
                <a:ea typeface="Cambria" pitchFamily="34" charset="-122"/>
                <a:cs typeface="Cambria" pitchFamily="34" charset="-120"/>
              </a:rPr>
              <a:t>Electronics earns the most; cheap items sell the most units</a:t>
            </a:r>
            <a:endParaRPr lang="en-US" sz="2400" dirty="0"/>
          </a:p>
        </p:txBody>
      </p:sp>
      <p:graphicFrame>
        <p:nvGraphicFramePr>
          <p:cNvPr id="3" name="Chart 0" descr=""/>
          <p:cNvGraphicFramePr/>
          <p:nvPr/>
        </p:nvGraphicFramePr>
        <p:xfrm>
          <a:off x="457200" y="1097280"/>
          <a:ext cx="402336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663440" y="1097280"/>
          <a:ext cx="4023360" cy="274320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457200" y="3977640"/>
            <a:ext cx="8229600" cy="868680"/>
          </a:xfrm>
          <a:prstGeom prst="rect">
            <a:avLst/>
          </a:prstGeom>
          <a:solidFill>
            <a:srgbClr val="F3F5F8"/>
          </a:solidFill>
          <a:ln w="12700">
            <a:solidFill>
              <a:srgbClr val="F3F5F8"/>
            </a:solidFill>
            <a:prstDash val="solid"/>
          </a:ln>
        </p:spPr>
      </p:sp>
      <p:sp>
        <p:nvSpPr>
          <p:cNvPr id="6" name="Text 2"/>
          <p:cNvSpPr txBox="1"/>
          <p:nvPr/>
        </p:nvSpPr>
        <p:spPr>
          <a:xfrm>
            <a:off x="640080" y="4069080"/>
            <a:ext cx="7863840" cy="685800"/>
          </a:xfrm>
          <a:prstGeom prst="rect">
            <a:avLst/>
          </a:prstGeom>
          <a:noFill/>
          <a:ln/>
        </p:spPr>
        <p:txBody>
          <a:bodyPr wrap="square" lIns="0" tIns="0" rIns="0" bIns="0" rtlCol="0" anchor="ctr"/>
          <a:lstStyle/>
          <a:p>
            <a:pPr indent="0" marL="0">
              <a:buNone/>
            </a:pPr>
            <a:r>
              <a:rPr lang="en-US" sz="1300" b="1" dirty="0">
                <a:solidFill>
                  <a:srgbClr val="F58220"/>
                </a:solidFill>
                <a:latin typeface="Calibri" pitchFamily="34" charset="0"/>
                <a:ea typeface="Calibri" pitchFamily="34" charset="-122"/>
                <a:cs typeface="Calibri" pitchFamily="34" charset="-120"/>
              </a:rPr>
              <a:t>So what? </a:t>
            </a:r>
            <a:pPr indent="0" marL="0">
              <a:buNone/>
            </a:pPr>
            <a:r>
              <a:rPr lang="en-US" sz="1300" dirty="0">
                <a:solidFill>
                  <a:srgbClr val="1F2937"/>
                </a:solidFill>
                <a:latin typeface="Calibri" pitchFamily="34" charset="0"/>
                <a:ea typeface="Calibri" pitchFamily="34" charset="-122"/>
                <a:cs typeface="Calibri" pitchFamily="34" charset="-120"/>
              </a:rPr>
              <a:t>Headphones, Office Chair and Tablet lead on revenue. Notebook, Phone Case and USB-C Cable lead on units. The two lists differ, so unit counts alone would mislead. Monitor is last on both and its price (21) needs checking.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indent="0" marL="0">
              <a:buNone/>
            </a:pPr>
            <a:r>
              <a:rPr lang="en-US" sz="2400" b="1" dirty="0">
                <a:solidFill>
                  <a:srgbClr val="0B1F3A"/>
                </a:solidFill>
                <a:latin typeface="Cambria" pitchFamily="34" charset="0"/>
                <a:ea typeface="Cambria" pitchFamily="34" charset="-122"/>
                <a:cs typeface="Cambria" pitchFamily="34" charset="-120"/>
              </a:rPr>
              <a:t>Tehran is the biggest market, and all customer segments spend the same</a:t>
            </a:r>
            <a:endParaRPr lang="en-US" sz="2400" dirty="0"/>
          </a:p>
        </p:txBody>
      </p:sp>
      <p:graphicFrame>
        <p:nvGraphicFramePr>
          <p:cNvPr id="3" name="Chart 0" descr=""/>
          <p:cNvGraphicFramePr/>
          <p:nvPr/>
        </p:nvGraphicFramePr>
        <p:xfrm>
          <a:off x="457200" y="1097280"/>
          <a:ext cx="4754880" cy="2788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0" y="1143000"/>
            <a:ext cx="3200400" cy="27432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Revenue per customer</a:t>
            </a:r>
            <a:endParaRPr lang="en-US" sz="1200" dirty="0"/>
          </a:p>
        </p:txBody>
      </p:sp>
      <p:sp>
        <p:nvSpPr>
          <p:cNvPr id="5" name="Shape 2"/>
          <p:cNvSpPr/>
          <p:nvPr/>
        </p:nvSpPr>
        <p:spPr>
          <a:xfrm>
            <a:off x="5486400" y="1508760"/>
            <a:ext cx="3200400" cy="676656"/>
          </a:xfrm>
          <a:prstGeom prst="rect">
            <a:avLst/>
          </a:prstGeom>
          <a:solidFill>
            <a:srgbClr val="F3F5F8"/>
          </a:solidFill>
          <a:ln w="12700">
            <a:solidFill>
              <a:srgbClr val="F3F5F8"/>
            </a:solidFill>
            <a:prstDash val="solid"/>
          </a:ln>
        </p:spPr>
      </p:sp>
      <p:sp>
        <p:nvSpPr>
          <p:cNvPr id="6" name="Text 3"/>
          <p:cNvSpPr txBox="1"/>
          <p:nvPr/>
        </p:nvSpPr>
        <p:spPr>
          <a:xfrm>
            <a:off x="5623560" y="1508760"/>
            <a:ext cx="1280160" cy="676656"/>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VIP</a:t>
            </a:r>
            <a:endParaRPr lang="en-US" sz="1400" dirty="0"/>
          </a:p>
        </p:txBody>
      </p:sp>
      <p:sp>
        <p:nvSpPr>
          <p:cNvPr id="7" name="Text 4"/>
          <p:cNvSpPr txBox="1"/>
          <p:nvPr/>
        </p:nvSpPr>
        <p:spPr>
          <a:xfrm>
            <a:off x="6766560" y="1508760"/>
            <a:ext cx="1783080" cy="676656"/>
          </a:xfrm>
          <a:prstGeom prst="rect">
            <a:avLst/>
          </a:prstGeom>
          <a:noFill/>
          <a:ln/>
        </p:spPr>
        <p:txBody>
          <a:bodyPr wrap="square" lIns="0" tIns="0" rIns="0" bIns="0" rtlCol="0" anchor="ctr"/>
          <a:lstStyle/>
          <a:p>
            <a:pPr algn="r" indent="0" marL="0">
              <a:buNone/>
            </a:pPr>
            <a:r>
              <a:rPr lang="en-US" sz="2600" b="1" dirty="0">
                <a:solidFill>
                  <a:srgbClr val="0B1F3A"/>
                </a:solidFill>
                <a:latin typeface="Cambria" pitchFamily="34" charset="0"/>
                <a:ea typeface="Cambria" pitchFamily="34" charset="-122"/>
                <a:cs typeface="Cambria" pitchFamily="34" charset="-120"/>
              </a:rPr>
              <a:t>296</a:t>
            </a:r>
            <a:endParaRPr lang="en-US" sz="2600" dirty="0"/>
          </a:p>
        </p:txBody>
      </p:sp>
      <p:sp>
        <p:nvSpPr>
          <p:cNvPr id="8" name="Shape 5"/>
          <p:cNvSpPr/>
          <p:nvPr/>
        </p:nvSpPr>
        <p:spPr>
          <a:xfrm>
            <a:off x="5486400" y="2295144"/>
            <a:ext cx="3200400" cy="676656"/>
          </a:xfrm>
          <a:prstGeom prst="rect">
            <a:avLst/>
          </a:prstGeom>
          <a:solidFill>
            <a:srgbClr val="F3F5F8"/>
          </a:solidFill>
          <a:ln w="12700">
            <a:solidFill>
              <a:srgbClr val="F3F5F8"/>
            </a:solidFill>
            <a:prstDash val="solid"/>
          </a:ln>
        </p:spPr>
      </p:sp>
      <p:sp>
        <p:nvSpPr>
          <p:cNvPr id="9" name="Text 6"/>
          <p:cNvSpPr txBox="1"/>
          <p:nvPr/>
        </p:nvSpPr>
        <p:spPr>
          <a:xfrm>
            <a:off x="5623560" y="2295144"/>
            <a:ext cx="1280160" cy="676656"/>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Regular</a:t>
            </a:r>
            <a:endParaRPr lang="en-US" sz="1400" dirty="0"/>
          </a:p>
        </p:txBody>
      </p:sp>
      <p:sp>
        <p:nvSpPr>
          <p:cNvPr id="10" name="Text 7"/>
          <p:cNvSpPr txBox="1"/>
          <p:nvPr/>
        </p:nvSpPr>
        <p:spPr>
          <a:xfrm>
            <a:off x="6766560" y="2295144"/>
            <a:ext cx="1783080" cy="676656"/>
          </a:xfrm>
          <a:prstGeom prst="rect">
            <a:avLst/>
          </a:prstGeom>
          <a:noFill/>
          <a:ln/>
        </p:spPr>
        <p:txBody>
          <a:bodyPr wrap="square" lIns="0" tIns="0" rIns="0" bIns="0" rtlCol="0" anchor="ctr"/>
          <a:lstStyle/>
          <a:p>
            <a:pPr algn="r" indent="0" marL="0">
              <a:buNone/>
            </a:pPr>
            <a:r>
              <a:rPr lang="en-US" sz="2600" b="1" dirty="0">
                <a:solidFill>
                  <a:srgbClr val="0B1F3A"/>
                </a:solidFill>
                <a:latin typeface="Cambria" pitchFamily="34" charset="0"/>
                <a:ea typeface="Cambria" pitchFamily="34" charset="-122"/>
                <a:cs typeface="Cambria" pitchFamily="34" charset="-120"/>
              </a:rPr>
              <a:t>298</a:t>
            </a:r>
            <a:endParaRPr lang="en-US" sz="2600" dirty="0"/>
          </a:p>
        </p:txBody>
      </p:sp>
      <p:sp>
        <p:nvSpPr>
          <p:cNvPr id="11" name="Shape 8"/>
          <p:cNvSpPr/>
          <p:nvPr/>
        </p:nvSpPr>
        <p:spPr>
          <a:xfrm>
            <a:off x="5486400" y="3081528"/>
            <a:ext cx="3200400" cy="676656"/>
          </a:xfrm>
          <a:prstGeom prst="rect">
            <a:avLst/>
          </a:prstGeom>
          <a:solidFill>
            <a:srgbClr val="F3F5F8"/>
          </a:solidFill>
          <a:ln w="12700">
            <a:solidFill>
              <a:srgbClr val="F3F5F8"/>
            </a:solidFill>
            <a:prstDash val="solid"/>
          </a:ln>
        </p:spPr>
      </p:sp>
      <p:sp>
        <p:nvSpPr>
          <p:cNvPr id="12" name="Text 9"/>
          <p:cNvSpPr txBox="1"/>
          <p:nvPr/>
        </p:nvSpPr>
        <p:spPr>
          <a:xfrm>
            <a:off x="5623560" y="3081528"/>
            <a:ext cx="1280160" cy="676656"/>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New</a:t>
            </a:r>
            <a:endParaRPr lang="en-US" sz="1400" dirty="0"/>
          </a:p>
        </p:txBody>
      </p:sp>
      <p:sp>
        <p:nvSpPr>
          <p:cNvPr id="13" name="Text 10"/>
          <p:cNvSpPr txBox="1"/>
          <p:nvPr/>
        </p:nvSpPr>
        <p:spPr>
          <a:xfrm>
            <a:off x="6766560" y="3081528"/>
            <a:ext cx="1783080" cy="676656"/>
          </a:xfrm>
          <a:prstGeom prst="rect">
            <a:avLst/>
          </a:prstGeom>
          <a:noFill/>
          <a:ln/>
        </p:spPr>
        <p:txBody>
          <a:bodyPr wrap="square" lIns="0" tIns="0" rIns="0" bIns="0" rtlCol="0" anchor="ctr"/>
          <a:lstStyle/>
          <a:p>
            <a:pPr algn="r" indent="0" marL="0">
              <a:buNone/>
            </a:pPr>
            <a:r>
              <a:rPr lang="en-US" sz="2600" b="1" dirty="0">
                <a:solidFill>
                  <a:srgbClr val="0B1F3A"/>
                </a:solidFill>
                <a:latin typeface="Cambria" pitchFamily="34" charset="0"/>
                <a:ea typeface="Cambria" pitchFamily="34" charset="-122"/>
                <a:cs typeface="Cambria" pitchFamily="34" charset="-120"/>
              </a:rPr>
              <a:t>300</a:t>
            </a:r>
            <a:endParaRPr lang="en-US" sz="2600" dirty="0"/>
          </a:p>
        </p:txBody>
      </p:sp>
      <p:sp>
        <p:nvSpPr>
          <p:cNvPr id="14" name="Shape 11"/>
          <p:cNvSpPr/>
          <p:nvPr/>
        </p:nvSpPr>
        <p:spPr>
          <a:xfrm>
            <a:off x="457200" y="3977640"/>
            <a:ext cx="8229600" cy="868680"/>
          </a:xfrm>
          <a:prstGeom prst="rect">
            <a:avLst/>
          </a:prstGeom>
          <a:solidFill>
            <a:srgbClr val="F3F5F8"/>
          </a:solidFill>
          <a:ln w="12700">
            <a:solidFill>
              <a:srgbClr val="F3F5F8"/>
            </a:solidFill>
            <a:prstDash val="solid"/>
          </a:ln>
        </p:spPr>
      </p:sp>
      <p:sp>
        <p:nvSpPr>
          <p:cNvPr id="15" name="Text 12"/>
          <p:cNvSpPr txBox="1"/>
          <p:nvPr/>
        </p:nvSpPr>
        <p:spPr>
          <a:xfrm>
            <a:off x="640080" y="4069080"/>
            <a:ext cx="7863840" cy="685800"/>
          </a:xfrm>
          <a:prstGeom prst="rect">
            <a:avLst/>
          </a:prstGeom>
          <a:noFill/>
          <a:ln/>
        </p:spPr>
        <p:txBody>
          <a:bodyPr wrap="square" lIns="0" tIns="0" rIns="0" bIns="0" rtlCol="0" anchor="ctr"/>
          <a:lstStyle/>
          <a:p>
            <a:pPr indent="0" marL="0">
              <a:buNone/>
            </a:pPr>
            <a:r>
              <a:rPr lang="en-US" sz="1300" b="1" dirty="0">
                <a:solidFill>
                  <a:srgbClr val="F58220"/>
                </a:solidFill>
                <a:latin typeface="Calibri" pitchFamily="34" charset="0"/>
                <a:ea typeface="Calibri" pitchFamily="34" charset="-122"/>
                <a:cs typeface="Calibri" pitchFamily="34" charset="-120"/>
              </a:rPr>
              <a:t>So what? </a:t>
            </a:r>
            <a:pPr indent="0" marL="0">
              <a:buNone/>
            </a:pPr>
            <a:r>
              <a:rPr lang="en-US" sz="1300" dirty="0">
                <a:solidFill>
                  <a:srgbClr val="1F2937"/>
                </a:solidFill>
                <a:latin typeface="Calibri" pitchFamily="34" charset="0"/>
                <a:ea typeface="Calibri" pitchFamily="34" charset="-122"/>
                <a:cs typeface="Calibri" pitchFamily="34" charset="-120"/>
              </a:rPr>
              <a:t>Tehran brings in 28% of revenue. A VIP customer spends the same (about 300) as a New or Regular one, so the VIP label is not creating extra value.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indent="0" marL="0">
              <a:buNone/>
            </a:pPr>
            <a:r>
              <a:rPr lang="en-US" sz="2400" b="1" dirty="0">
                <a:solidFill>
                  <a:srgbClr val="0B1F3A"/>
                </a:solidFill>
                <a:latin typeface="Cambria" pitchFamily="34" charset="0"/>
                <a:ea typeface="Cambria" pitchFamily="34" charset="-122"/>
                <a:cs typeface="Cambria" pitchFamily="34" charset="-120"/>
              </a:rPr>
              <a:t>Few orders are cancelled or returned and few payments fail; deep discounts only cut order value</a:t>
            </a:r>
            <a:endParaRPr lang="en-US" sz="2400" dirty="0"/>
          </a:p>
        </p:txBody>
      </p:sp>
      <p:sp>
        <p:nvSpPr>
          <p:cNvPr id="3" name="Shape 1"/>
          <p:cNvSpPr/>
          <p:nvPr/>
        </p:nvSpPr>
        <p:spPr>
          <a:xfrm>
            <a:off x="457200" y="1234440"/>
            <a:ext cx="3017520" cy="731520"/>
          </a:xfrm>
          <a:prstGeom prst="rect">
            <a:avLst/>
          </a:prstGeom>
          <a:solidFill>
            <a:srgbClr val="F3F5F8"/>
          </a:solidFill>
          <a:ln w="12700">
            <a:solidFill>
              <a:srgbClr val="F3F5F8"/>
            </a:solidFill>
            <a:prstDash val="solid"/>
          </a:ln>
        </p:spPr>
      </p:sp>
      <p:sp>
        <p:nvSpPr>
          <p:cNvPr id="4" name="Text 2"/>
          <p:cNvSpPr txBox="1"/>
          <p:nvPr/>
        </p:nvSpPr>
        <p:spPr>
          <a:xfrm>
            <a:off x="594360" y="1234440"/>
            <a:ext cx="1234440" cy="731520"/>
          </a:xfrm>
          <a:prstGeom prst="rect">
            <a:avLst/>
          </a:prstGeom>
          <a:noFill/>
          <a:ln/>
        </p:spPr>
        <p:txBody>
          <a:bodyPr wrap="square" lIns="0" tIns="0" rIns="0" bIns="0" rtlCol="0" anchor="ctr"/>
          <a:lstStyle/>
          <a:p>
            <a:pPr indent="0" marL="0">
              <a:buNone/>
            </a:pPr>
            <a:r>
              <a:rPr lang="en-US" sz="2800" b="1" dirty="0">
                <a:solidFill>
                  <a:srgbClr val="F58220"/>
                </a:solidFill>
                <a:latin typeface="Cambria" pitchFamily="34" charset="0"/>
                <a:ea typeface="Cambria" pitchFamily="34" charset="-122"/>
                <a:cs typeface="Cambria" pitchFamily="34" charset="-120"/>
              </a:rPr>
              <a:t>4.9%</a:t>
            </a:r>
            <a:endParaRPr lang="en-US" sz="2800" dirty="0"/>
          </a:p>
        </p:txBody>
      </p:sp>
      <p:sp>
        <p:nvSpPr>
          <p:cNvPr id="5" name="Text 3"/>
          <p:cNvSpPr txBox="1"/>
          <p:nvPr/>
        </p:nvSpPr>
        <p:spPr>
          <a:xfrm>
            <a:off x="1828800" y="1234440"/>
            <a:ext cx="155448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Orders cancelled</a:t>
            </a:r>
            <a:endParaRPr lang="en-US" sz="1400" dirty="0"/>
          </a:p>
        </p:txBody>
      </p:sp>
      <p:sp>
        <p:nvSpPr>
          <p:cNvPr id="6" name="Shape 4"/>
          <p:cNvSpPr/>
          <p:nvPr/>
        </p:nvSpPr>
        <p:spPr>
          <a:xfrm>
            <a:off x="457200" y="2075688"/>
            <a:ext cx="3017520" cy="731520"/>
          </a:xfrm>
          <a:prstGeom prst="rect">
            <a:avLst/>
          </a:prstGeom>
          <a:solidFill>
            <a:srgbClr val="F3F5F8"/>
          </a:solidFill>
          <a:ln w="12700">
            <a:solidFill>
              <a:srgbClr val="F3F5F8"/>
            </a:solidFill>
            <a:prstDash val="solid"/>
          </a:ln>
        </p:spPr>
      </p:sp>
      <p:sp>
        <p:nvSpPr>
          <p:cNvPr id="7" name="Text 5"/>
          <p:cNvSpPr txBox="1"/>
          <p:nvPr/>
        </p:nvSpPr>
        <p:spPr>
          <a:xfrm>
            <a:off x="594360" y="2075688"/>
            <a:ext cx="1234440" cy="731520"/>
          </a:xfrm>
          <a:prstGeom prst="rect">
            <a:avLst/>
          </a:prstGeom>
          <a:noFill/>
          <a:ln/>
        </p:spPr>
        <p:txBody>
          <a:bodyPr wrap="square" lIns="0" tIns="0" rIns="0" bIns="0" rtlCol="0" anchor="ctr"/>
          <a:lstStyle/>
          <a:p>
            <a:pPr indent="0" marL="0">
              <a:buNone/>
            </a:pPr>
            <a:r>
              <a:rPr lang="en-US" sz="2800" b="1" dirty="0">
                <a:solidFill>
                  <a:srgbClr val="F58220"/>
                </a:solidFill>
                <a:latin typeface="Cambria" pitchFamily="34" charset="0"/>
                <a:ea typeface="Cambria" pitchFamily="34" charset="-122"/>
                <a:cs typeface="Cambria" pitchFamily="34" charset="-120"/>
              </a:rPr>
              <a:t>3.1%</a:t>
            </a:r>
            <a:endParaRPr lang="en-US" sz="2800" dirty="0"/>
          </a:p>
        </p:txBody>
      </p:sp>
      <p:sp>
        <p:nvSpPr>
          <p:cNvPr id="8" name="Text 6"/>
          <p:cNvSpPr txBox="1"/>
          <p:nvPr/>
        </p:nvSpPr>
        <p:spPr>
          <a:xfrm>
            <a:off x="1828800" y="2075688"/>
            <a:ext cx="155448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Orders returned</a:t>
            </a:r>
            <a:endParaRPr lang="en-US" sz="1400" dirty="0"/>
          </a:p>
        </p:txBody>
      </p:sp>
      <p:sp>
        <p:nvSpPr>
          <p:cNvPr id="9" name="Shape 7"/>
          <p:cNvSpPr/>
          <p:nvPr/>
        </p:nvSpPr>
        <p:spPr>
          <a:xfrm>
            <a:off x="457200" y="2916936"/>
            <a:ext cx="3017520" cy="731520"/>
          </a:xfrm>
          <a:prstGeom prst="rect">
            <a:avLst/>
          </a:prstGeom>
          <a:solidFill>
            <a:srgbClr val="F3F5F8"/>
          </a:solidFill>
          <a:ln w="12700">
            <a:solidFill>
              <a:srgbClr val="F3F5F8"/>
            </a:solidFill>
            <a:prstDash val="solid"/>
          </a:ln>
        </p:spPr>
      </p:sp>
      <p:sp>
        <p:nvSpPr>
          <p:cNvPr id="10" name="Text 8"/>
          <p:cNvSpPr txBox="1"/>
          <p:nvPr/>
        </p:nvSpPr>
        <p:spPr>
          <a:xfrm>
            <a:off x="594360" y="2916936"/>
            <a:ext cx="1234440" cy="73152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3.9%</a:t>
            </a:r>
            <a:endParaRPr lang="en-US" sz="2800" dirty="0"/>
          </a:p>
        </p:txBody>
      </p:sp>
      <p:sp>
        <p:nvSpPr>
          <p:cNvPr id="11" name="Text 9"/>
          <p:cNvSpPr txBox="1"/>
          <p:nvPr/>
        </p:nvSpPr>
        <p:spPr>
          <a:xfrm>
            <a:off x="1828800" y="2916936"/>
            <a:ext cx="155448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Payments failed</a:t>
            </a:r>
            <a:endParaRPr lang="en-US" sz="1400" dirty="0"/>
          </a:p>
        </p:txBody>
      </p:sp>
      <p:graphicFrame>
        <p:nvGraphicFramePr>
          <p:cNvPr id="12" name="Chart 0" descr=""/>
          <p:cNvGraphicFramePr/>
          <p:nvPr/>
        </p:nvGraphicFramePr>
        <p:xfrm>
          <a:off x="3749040" y="1097280"/>
          <a:ext cx="4937760" cy="2697480"/>
        </p:xfrm>
        <a:graphic xmlns:a="http://schemas.openxmlformats.org/drawingml/2006/main">
          <a:graphicData uri="http://schemas.openxmlformats.org/drawingml/2006/chart">
            <c:chart xmlns:c="http://schemas.openxmlformats.org/drawingml/2006/chart" r:id="rId1"/>
          </a:graphicData>
        </a:graphic>
      </p:graphicFrame>
      <p:sp>
        <p:nvSpPr>
          <p:cNvPr id="13" name="Shape 10"/>
          <p:cNvSpPr/>
          <p:nvPr/>
        </p:nvSpPr>
        <p:spPr>
          <a:xfrm>
            <a:off x="457200" y="3931920"/>
            <a:ext cx="8229600" cy="914400"/>
          </a:xfrm>
          <a:prstGeom prst="rect">
            <a:avLst/>
          </a:prstGeom>
          <a:solidFill>
            <a:srgbClr val="F3F5F8"/>
          </a:solidFill>
          <a:ln w="12700">
            <a:solidFill>
              <a:srgbClr val="F3F5F8"/>
            </a:solidFill>
            <a:prstDash val="solid"/>
          </a:ln>
        </p:spPr>
      </p:sp>
      <p:sp>
        <p:nvSpPr>
          <p:cNvPr id="14" name="Text 11"/>
          <p:cNvSpPr txBox="1"/>
          <p:nvPr/>
        </p:nvSpPr>
        <p:spPr>
          <a:xfrm>
            <a:off x="640080" y="4023360"/>
            <a:ext cx="7863840" cy="731520"/>
          </a:xfrm>
          <a:prstGeom prst="rect">
            <a:avLst/>
          </a:prstGeom>
          <a:noFill/>
          <a:ln/>
        </p:spPr>
        <p:txBody>
          <a:bodyPr wrap="square" lIns="0" tIns="0" rIns="0" bIns="0" rtlCol="0" anchor="ctr"/>
          <a:lstStyle/>
          <a:p>
            <a:pPr indent="0" marL="0">
              <a:buNone/>
            </a:pPr>
            <a:r>
              <a:rPr lang="en-US" sz="1300" b="1" dirty="0">
                <a:solidFill>
                  <a:srgbClr val="F58220"/>
                </a:solidFill>
                <a:latin typeface="Calibri" pitchFamily="34" charset="0"/>
                <a:ea typeface="Calibri" pitchFamily="34" charset="-122"/>
                <a:cs typeface="Calibri" pitchFamily="34" charset="-120"/>
              </a:rPr>
              <a:t>So what? </a:t>
            </a:r>
            <a:pPr indent="0" marL="0">
              <a:buNone/>
            </a:pPr>
            <a:r>
              <a:rPr lang="en-US" sz="1300" dirty="0">
                <a:solidFill>
                  <a:srgbClr val="1F2937"/>
                </a:solidFill>
                <a:latin typeface="Calibri" pitchFamily="34" charset="0"/>
                <a:ea typeface="Calibri" pitchFamily="34" charset="-122"/>
                <a:cs typeface="Calibri" pitchFamily="34" charset="-120"/>
              </a:rPr>
              <a:t>Payments fail at almost the same rate for every method (3.7–3.9%), so no method needs fixing. Units per order stay near 1.9 at every discount, so a 30% discount only cuts order value from 75 to 56.</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indent="0" marL="0">
              <a:buNone/>
            </a:pPr>
            <a:r>
              <a:rPr lang="en-US" sz="2400" b="1" dirty="0">
                <a:solidFill>
                  <a:srgbClr val="0B1F3A"/>
                </a:solidFill>
                <a:latin typeface="Cambria" pitchFamily="34" charset="0"/>
                <a:ea typeface="Cambria" pitchFamily="34" charset="-122"/>
                <a:cs typeface="Cambria" pitchFamily="34" charset="-120"/>
              </a:rPr>
              <a:t>Three recommendations</a:t>
            </a:r>
            <a:endParaRPr lang="en-US" sz="2400" dirty="0"/>
          </a:p>
        </p:txBody>
      </p:sp>
      <p:sp>
        <p:nvSpPr>
          <p:cNvPr id="3" name="Shape 1"/>
          <p:cNvSpPr/>
          <p:nvPr/>
        </p:nvSpPr>
        <p:spPr>
          <a:xfrm>
            <a:off x="457200" y="1234440"/>
            <a:ext cx="548640" cy="548640"/>
          </a:xfrm>
          <a:prstGeom prst="ellipse">
            <a:avLst/>
          </a:prstGeom>
          <a:solidFill>
            <a:srgbClr val="F58220"/>
          </a:solidFill>
          <a:ln w="12700">
            <a:solidFill>
              <a:srgbClr val="F58220"/>
            </a:solidFill>
            <a:prstDash val="solid"/>
          </a:ln>
        </p:spPr>
      </p:sp>
      <p:sp>
        <p:nvSpPr>
          <p:cNvPr id="4" name="Text 2"/>
          <p:cNvSpPr txBox="1"/>
          <p:nvPr/>
        </p:nvSpPr>
        <p:spPr>
          <a:xfrm>
            <a:off x="457200" y="12344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234440" y="1188720"/>
            <a:ext cx="7406640" cy="365760"/>
          </a:xfrm>
          <a:prstGeom prst="rect">
            <a:avLst/>
          </a:prstGeom>
          <a:noFill/>
          <a:ln/>
        </p:spPr>
        <p:txBody>
          <a:bodyPr wrap="square" lIns="0" tIns="0" rIns="0" bIns="0" rtlCol="0" anchor="t"/>
          <a:lstStyle/>
          <a:p>
            <a:pPr indent="0" marL="0">
              <a:buNone/>
            </a:pPr>
            <a:r>
              <a:rPr lang="en-US" sz="1700" b="1" dirty="0">
                <a:solidFill>
                  <a:srgbClr val="0B1F3A"/>
                </a:solidFill>
                <a:latin typeface="Calibri" pitchFamily="34" charset="0"/>
                <a:ea typeface="Calibri" pitchFamily="34" charset="-122"/>
                <a:cs typeface="Calibri" pitchFamily="34" charset="-120"/>
              </a:rPr>
              <a:t>Find out what changed in February 2026</a:t>
            </a:r>
            <a:endParaRPr lang="en-US" sz="1700" dirty="0"/>
          </a:p>
        </p:txBody>
      </p:sp>
      <p:sp>
        <p:nvSpPr>
          <p:cNvPr id="6" name="Text 4"/>
          <p:cNvSpPr txBox="1"/>
          <p:nvPr/>
        </p:nvSpPr>
        <p:spPr>
          <a:xfrm>
            <a:off x="1234440" y="1572768"/>
            <a:ext cx="7406640" cy="68580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Monthly revenue fell from about 108K in January to about 71K a month since. Check website traffic, marketing spend and stock from that month, and restart customer signups.</a:t>
            </a:r>
            <a:endParaRPr lang="en-US" sz="1350" dirty="0"/>
          </a:p>
        </p:txBody>
      </p:sp>
      <p:sp>
        <p:nvSpPr>
          <p:cNvPr id="7" name="Shape 5"/>
          <p:cNvSpPr/>
          <p:nvPr/>
        </p:nvSpPr>
        <p:spPr>
          <a:xfrm>
            <a:off x="457200" y="2468880"/>
            <a:ext cx="548640" cy="548640"/>
          </a:xfrm>
          <a:prstGeom prst="ellipse">
            <a:avLst/>
          </a:prstGeom>
          <a:solidFill>
            <a:srgbClr val="F58220"/>
          </a:solidFill>
          <a:ln w="12700">
            <a:solidFill>
              <a:srgbClr val="F58220"/>
            </a:solidFill>
            <a:prstDash val="solid"/>
          </a:ln>
        </p:spPr>
      </p:sp>
      <p:sp>
        <p:nvSpPr>
          <p:cNvPr id="8" name="Text 6"/>
          <p:cNvSpPr txBox="1"/>
          <p:nvPr/>
        </p:nvSpPr>
        <p:spPr>
          <a:xfrm>
            <a:off x="457200" y="24688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1234440" y="2423160"/>
            <a:ext cx="7406640" cy="365760"/>
          </a:xfrm>
          <a:prstGeom prst="rect">
            <a:avLst/>
          </a:prstGeom>
          <a:noFill/>
          <a:ln/>
        </p:spPr>
        <p:txBody>
          <a:bodyPr wrap="square" lIns="0" tIns="0" rIns="0" bIns="0" rtlCol="0" anchor="t"/>
          <a:lstStyle/>
          <a:p>
            <a:pPr indent="0" marL="0">
              <a:buNone/>
            </a:pPr>
            <a:r>
              <a:rPr lang="en-US" sz="1700" b="1" dirty="0">
                <a:solidFill>
                  <a:srgbClr val="0B1F3A"/>
                </a:solidFill>
                <a:latin typeface="Calibri" pitchFamily="34" charset="0"/>
                <a:ea typeface="Calibri" pitchFamily="34" charset="-122"/>
                <a:cs typeface="Calibri" pitchFamily="34" charset="-120"/>
              </a:rPr>
              <a:t>Stop the 20% and 30% discounts</a:t>
            </a:r>
            <a:endParaRPr lang="en-US" sz="1700" dirty="0"/>
          </a:p>
        </p:txBody>
      </p:sp>
      <p:sp>
        <p:nvSpPr>
          <p:cNvPr id="10" name="Text 8"/>
          <p:cNvSpPr txBox="1"/>
          <p:nvPr/>
        </p:nvSpPr>
        <p:spPr>
          <a:xfrm>
            <a:off x="1234440" y="2807208"/>
            <a:ext cx="7406640" cy="68580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They are 11% of orders and cut order value by 18–25% without adding units. Cap discounts at 10%.</a:t>
            </a:r>
            <a:endParaRPr lang="en-US" sz="1350" dirty="0"/>
          </a:p>
        </p:txBody>
      </p:sp>
      <p:sp>
        <p:nvSpPr>
          <p:cNvPr id="11" name="Shape 9"/>
          <p:cNvSpPr/>
          <p:nvPr/>
        </p:nvSpPr>
        <p:spPr>
          <a:xfrm>
            <a:off x="457200" y="3703320"/>
            <a:ext cx="548640" cy="548640"/>
          </a:xfrm>
          <a:prstGeom prst="ellipse">
            <a:avLst/>
          </a:prstGeom>
          <a:solidFill>
            <a:srgbClr val="F58220"/>
          </a:solidFill>
          <a:ln w="12700">
            <a:solidFill>
              <a:srgbClr val="F58220"/>
            </a:solidFill>
            <a:prstDash val="solid"/>
          </a:ln>
        </p:spPr>
      </p:sp>
      <p:sp>
        <p:nvSpPr>
          <p:cNvPr id="12" name="Text 10"/>
          <p:cNvSpPr txBox="1"/>
          <p:nvPr/>
        </p:nvSpPr>
        <p:spPr>
          <a:xfrm>
            <a:off x="457200" y="37033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1234440" y="3657600"/>
            <a:ext cx="7406640" cy="365760"/>
          </a:xfrm>
          <a:prstGeom prst="rect">
            <a:avLst/>
          </a:prstGeom>
          <a:noFill/>
          <a:ln/>
        </p:spPr>
        <p:txBody>
          <a:bodyPr wrap="square" lIns="0" tIns="0" rIns="0" bIns="0" rtlCol="0" anchor="t"/>
          <a:lstStyle/>
          <a:p>
            <a:pPr indent="0" marL="0">
              <a:buNone/>
            </a:pPr>
            <a:r>
              <a:rPr lang="en-US" sz="1700" b="1" dirty="0">
                <a:solidFill>
                  <a:srgbClr val="0B1F3A"/>
                </a:solidFill>
                <a:latin typeface="Calibri" pitchFamily="34" charset="0"/>
                <a:ea typeface="Calibri" pitchFamily="34" charset="-122"/>
                <a:cs typeface="Calibri" pitchFamily="34" charset="-120"/>
              </a:rPr>
              <a:t>Promote high-revenue products and fix the VIP tier</a:t>
            </a:r>
            <a:endParaRPr lang="en-US" sz="1700" dirty="0"/>
          </a:p>
        </p:txBody>
      </p:sp>
      <p:sp>
        <p:nvSpPr>
          <p:cNvPr id="14" name="Text 12"/>
          <p:cNvSpPr txBox="1"/>
          <p:nvPr/>
        </p:nvSpPr>
        <p:spPr>
          <a:xfrm>
            <a:off x="1234440" y="4041648"/>
            <a:ext cx="7406640" cy="68580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Headphones, Office Chair, Tablet and Smart Watch earn the most per sale. VIPs spend no more than other customers, so add real VIP benefits.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822960"/>
          </a:xfrm>
          <a:prstGeom prst="rect">
            <a:avLst/>
          </a:prstGeom>
          <a:noFill/>
          <a:ln/>
        </p:spPr>
        <p:txBody>
          <a:bodyPr wrap="square" lIns="0" tIns="0" rIns="0" bIns="0" rtlCol="0" anchor="t"/>
          <a:lstStyle/>
          <a:p>
            <a:pPr indent="0" marL="0">
              <a:buNone/>
            </a:pPr>
            <a:r>
              <a:rPr lang="en-US" sz="2400" b="1" dirty="0">
                <a:solidFill>
                  <a:srgbClr val="0B1F3A"/>
                </a:solidFill>
                <a:latin typeface="Cambria" pitchFamily="34" charset="0"/>
                <a:ea typeface="Cambria" pitchFamily="34" charset="-122"/>
                <a:cs typeface="Cambria" pitchFamily="34" charset="-120"/>
              </a:rPr>
              <a:t>Data problems I found and how I handled them</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840480"/>
                <a:gridCol w="1828800"/>
                <a:gridCol w="256032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Problem</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Found</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 did</a:t>
                      </a:r>
                      <a:endParaRPr lang="en-US" sz="120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0B1F3A"/>
                    </a:solidFill>
                  </a:tcPr>
                </a:tc>
              </a:tr>
              <a:tr h="292608">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Duplicate orders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120 rows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Removed</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Orders from unknown customers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30 rows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Removed</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Missing order date</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35 rows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Removed</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Blank, zero or negative quantity</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105 rows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Removed</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Missing discount</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221 rows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Filled with 0</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Missing payment method</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452 rows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Labelled Unknown</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City spelled two ways (tehran, Mashad)</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110 customers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Standardised</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Missing payment date</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35 rows</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Kept (date not used)</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Monitor priced at 21</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 product</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Kept, needs checking</a:t>
                      </a:r>
                      <a:endParaRPr lang="en-US" sz="1150" dirty="0">
                        <a:latin typeface="Calibri" charset="0"/>
                        <a:ea typeface="Calibri" charset="0"/>
                        <a:cs typeface="Calibri" charset="0"/>
                      </a:endParaRPr>
                    </a:p>
                  </a:txBody>
                  <a:tcPr marL="91440" marR="91440" marT="45720" marB="45720">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114800"/>
            <a:ext cx="8229600" cy="82296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Orders: 50,120 raw → 49,830 clean. Revenue = quantity × price × (1 − discount), counting only Completed orders with a Paid payment. Cancelled, returned, failed and refunded orders are excluded. Order status and payment status do not always match (1,751 Completed orders have a Failed payment), so I required both.</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is the shop performing?</dc:title>
  <dc:subject>PptxGenJS Presentation</dc:subject>
  <dc:creator>PptxGenJS</dc:creator>
  <cp:lastModifiedBy>PptxGenJS</cp:lastModifiedBy>
  <cp:revision>1</cp:revision>
  <dcterms:created xsi:type="dcterms:W3CDTF">2026-09-23T19:27:03Z</dcterms:created>
  <dcterms:modified xsi:type="dcterms:W3CDTF">2026-09-23T19:27:03Z</dcterms:modified>
</cp:coreProperties>
</file>